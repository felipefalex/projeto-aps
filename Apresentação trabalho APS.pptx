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358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pt-B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474B14C-3712-4002-A24B-A52AE5C047F4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4D977F-BF3C-4389-8712-B9836230B47A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560" y="1825560"/>
            <a:ext cx="518076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E63124-C004-4122-AB3C-BF426240E229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560" y="1681200"/>
            <a:ext cx="518256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560" y="2505240"/>
            <a:ext cx="518256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20D257-0DFA-4293-B7DF-C47A4BF6DBE2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7954F6-F3D7-4177-92B5-D393E98DE8FB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sldNum" idx="12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72E70B-D4CD-49DF-83A5-F93F477FB88D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316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316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2.º nível de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3.º nível de tópicos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184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5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4BB702-CC04-41EC-B65D-944B903FD286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7184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18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8F5548-9CC1-4BD2-ABC1-1C06D2C6A13B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1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9E521C-C2D4-4930-BA62-385B6022D4A7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80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6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4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3C61C1-6A2F-414E-8D69-47DDC9436C70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725680" y="365040"/>
            <a:ext cx="26283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27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316D6C3-A027-49A4-9E02-7C8B9DC16A81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60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6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Segundo nível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Terceiro nível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Quarto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Quinto nível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30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F6CD8E-0EB8-4E6D-BF82-81F3E8E103E3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solidFill>
          <a:srgbClr val="6c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60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Clique para editar o título Mestre</a:t>
            </a:r>
            <a:endParaRPr lang="pt-BR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60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Clique para editar os estilos de texto Mestres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&lt;data/hora&gt;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33"/>
          </p:nvPr>
        </p:nvSpPr>
        <p:spPr>
          <a:xfrm>
            <a:off x="8611200" y="6356520"/>
            <a:ext cx="274248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21840A-B310-4D93-A62E-89BA5F4D45A0}" type="slidenum">
              <a:rPr lang="pt-BR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&lt;número&gt;</a:t>
            </a:fld>
            <a:endParaRPr lang="pt-BR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aixaDeTexto 4"/>
          <p:cNvSpPr/>
          <p:nvPr/>
        </p:nvSpPr>
        <p:spPr>
          <a:xfrm>
            <a:off x="2226600" y="1256760"/>
            <a:ext cx="773856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8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O Efeito da entrada no Programa Olho Vivo sobre a letalidade policial no estado de São Paulo </a:t>
            </a:r>
            <a:endParaRPr lang="pt-BR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aixaDeTexto 5"/>
          <p:cNvSpPr/>
          <p:nvPr/>
        </p:nvSpPr>
        <p:spPr>
          <a:xfrm>
            <a:off x="2909160" y="4944600"/>
            <a:ext cx="63734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000000"/>
                </a:solidFill>
                <a:effectLst/>
                <a:uFillTx/>
                <a:latin typeface="Segoe UI Light"/>
              </a:rPr>
              <a:t>Andrei Schoschlakow Bonifácio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rgbClr val="000000"/>
                </a:solidFill>
                <a:effectLst/>
                <a:uFillTx/>
                <a:latin typeface="Segoe UI Light"/>
              </a:rPr>
              <a:t>Felipe Ferreira Alexandre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aixaDeTexto 2"/>
          <p:cNvSpPr/>
          <p:nvPr/>
        </p:nvSpPr>
        <p:spPr>
          <a:xfrm>
            <a:off x="385200" y="42840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Introdução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CaixaDeTexto 8"/>
          <p:cNvSpPr/>
          <p:nvPr/>
        </p:nvSpPr>
        <p:spPr>
          <a:xfrm>
            <a:off x="385560" y="1256760"/>
            <a:ext cx="1142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6000" y="1295640"/>
            <a:ext cx="11340000" cy="5440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polícia possui autoridade legal para empregar força, inclusive letal em situações extremas, exigindo mecanismos robustos de controle, supervisão e responsabilização para garantir legitimidade e proteção de direitos.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adoção de câmeras corporais expandiu-se internacionalmente como instrumento de transparência e accountability, tornando abordagens policiais auditáveis e tornando os registros mais precisos.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Porém, as evidências empíricas sobre câmeras corporais são heterogêneas, indicando que seus efeitos dependem principalmente das regras de uso, supervisão, armazenamento das imagens e responsabilização institucional.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No contexto brasileiro, marcado por elevada letalidade policial e desigualdades estruturais, as câmeras corporais podem produzir impactos mais amplos sobre mortes decorrentes de intervenções policiais e confiança pública.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Avaliar o efeito das câmeras corporais no Brasil é desafiador, pois sua implementação frequentemente coincide com reformas institucionais mais amplas, mudanças operacionais e maior escrutínio social sobre a atuação policial.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aixaDeTexto 1"/>
          <p:cNvSpPr/>
          <p:nvPr/>
        </p:nvSpPr>
        <p:spPr>
          <a:xfrm>
            <a:off x="385200" y="428400"/>
            <a:ext cx="11251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Dados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96000" y="1295640"/>
            <a:ext cx="11340000" cy="580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Este trabalho utiliza informações administrativas sobre mortes decorrentes de intervenção policial no Estado de São Paulo, combinadas a uma base de tratamento que identifica a entrada de unidades da Polícia Militar do Estado de São Paulo no Programa Olho Vivo. O objetivo é construir um painel de unidades policiais ao longo do tempo, permitindo comparar a trajetórida letalidade policial entre batalhões que passaram a utilizar câmeras corporais e batalhões ainda não tratados ou não tratados no período de análise.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principal base de resultado é composta por registros de mortes decorrentes de intervenção policial, doravante MDIP. Esses registros incluem informações sobre o ano e o mês estatístico da ocorrência, data do fato, corporação envolvida, situação do agente, município, circunscrição policial, companhia, batalhão, comando, além de características da vítima, como idade, sexo e raça/cor.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Para a análise principal, opta-se pelo nível de batalhão, construindo uma base em painel </a:t>
            </a:r>
            <a:r>
              <a:rPr lang="pt-BR" sz="1800" b="1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batalhão × mês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, por duas razões: 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     1. A implantação das câmeras corporais no Programa Olho Vivo foi organizada e divulgada principalmente por batalhões e unidades policiais, com entrada em fases sucessivas. 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     2. A base de MDIP fornecida contém identificação do batalhão associado ao evento, permitindo observar a evolução mensal da letalidade em cada unidade.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aixaDeTexto 6"/>
          <p:cNvSpPr/>
          <p:nvPr/>
        </p:nvSpPr>
        <p:spPr>
          <a:xfrm>
            <a:off x="385560" y="428760"/>
            <a:ext cx="11251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Metodologia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96000" y="1296000"/>
            <a:ext cx="11340000" cy="433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  <a:ea typeface="Microsoft YaHei"/>
              </a:rPr>
              <a:t>Foi utilizado o método de diferença-em-diferenças com múltiplos períodos e adoção escalonada (Callaway e Sant’Anna), pois as câmeras corporais não foram implementadas simultaneamente em todos os batalhões (alguns em agosto de 2020, outros em junho de 2021 e outros em ondas posteriores). </a:t>
            </a: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Segoe UI Semilight"/>
              </a:rPr>
              <a:t>A hipótese central do modelo é a de tendências paralelas condicionais.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Segoe UI Semilight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rcRect l="9351" t="6640" r="9133" b="51361"/>
          <a:stretch/>
        </p:blipFill>
        <p:spPr>
          <a:xfrm>
            <a:off x="216000" y="2520000"/>
            <a:ext cx="6084000" cy="405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"/>
          <p:cNvPicPr/>
          <p:nvPr/>
        </p:nvPicPr>
        <p:blipFill>
          <a:blip r:embed="rId2"/>
          <a:srcRect l="8495" t="46842" r="9989" b="16408"/>
          <a:stretch/>
        </p:blipFill>
        <p:spPr>
          <a:xfrm>
            <a:off x="6197400" y="2880000"/>
            <a:ext cx="5631120" cy="328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aixaDeTexto 3"/>
          <p:cNvSpPr/>
          <p:nvPr/>
        </p:nvSpPr>
        <p:spPr>
          <a:xfrm>
            <a:off x="385200" y="42840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Resultados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aixaDeTexto 7"/>
          <p:cNvSpPr/>
          <p:nvPr/>
        </p:nvSpPr>
        <p:spPr>
          <a:xfrm>
            <a:off x="385200" y="428760"/>
            <a:ext cx="114217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3600" b="1" u="none" strike="noStrike">
                <a:solidFill>
                  <a:srgbClr val="000000"/>
                </a:solidFill>
                <a:effectLst/>
                <a:uFillTx/>
                <a:latin typeface="Segoe UI Variable Display Semib"/>
              </a:rPr>
              <a:t>Conclusão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2024</TotalTime>
  <Application>LibreOffice/25.8.7.1$Windows_X86_64 LibreOffice_project/39c3b7ac021cfb9f4ca681457ad36828f90e2ce7</Application>
  <AppVersion>15.0000</AppVersion>
  <Words>1694</Words>
  <Paragraphs>59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2025-10-08T12:24:17Z</dcterms:created>
  <dc:creator>Andrei Bonifácio</dc:creator>
  <dc:description/>
  <dc:language>pt-BR</dc:language>
  <cp:lastModifiedBy/>
  <dcterms:modified xsi:type="dcterms:W3CDTF">2026-06-22T19:35:55Z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13</vt:i4>
  </property>
</Properties>
</file>