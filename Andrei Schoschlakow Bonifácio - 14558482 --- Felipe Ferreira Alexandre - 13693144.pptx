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9F5D24-7DD3-4263-9A2C-10BA21009C17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E96654-DFFD-474F-8B45-A903EED78924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5680" y="365040"/>
            <a:ext cx="262800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03061D-1183-4CE7-8D40-51CC40F4C4B9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6E0FD1-7C15-4BFE-9767-44CC09ED21EB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4FA003-7D59-49E7-A5F8-A8041B23F946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560" y="1825560"/>
            <a:ext cx="518040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8DFF33-687B-4B94-BFE2-6C2CB4282ED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560" y="1681200"/>
            <a:ext cx="518220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560" y="2505240"/>
            <a:ext cx="518220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B2F9C2-C7D1-4B41-8494-E0C441F00294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A816EA-A3B1-40C8-9F04-BF3C932068B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1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53ADA9-6986-4D96-B11A-4EE34DFE7A57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48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7D4D7C-5609-4C97-AC7B-E5F341BD0381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48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495D7F-74BD-45B6-9A38-2D2F68C0647B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8FE019-0252-4133-A45E-E6DEBB1620DE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33"/>
          </p:nvPr>
        </p:nvSpPr>
        <p:spPr>
          <a:xfrm>
            <a:off x="8611200" y="6356520"/>
            <a:ext cx="2742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DA3A8D-B0BE-474D-AA00-59118354AF83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aixaDeTexto 4"/>
          <p:cNvSpPr/>
          <p:nvPr/>
        </p:nvSpPr>
        <p:spPr>
          <a:xfrm>
            <a:off x="2226600" y="1256760"/>
            <a:ext cx="773820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48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Efeito das Câmeras Corporais nas Mortes em Decorrência da Intervenção Policial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DeTexto 5"/>
          <p:cNvSpPr/>
          <p:nvPr/>
        </p:nvSpPr>
        <p:spPr>
          <a:xfrm>
            <a:off x="2909160" y="4764600"/>
            <a:ext cx="63730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000000"/>
                </a:solidFill>
                <a:effectLst/>
                <a:uFillTx/>
                <a:latin typeface="Segoe UI Light"/>
              </a:rPr>
              <a:t>Andrei Schoschlakow Bonifácio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000000"/>
                </a:solidFill>
                <a:effectLst/>
                <a:uFillTx/>
                <a:latin typeface="Segoe UI Light"/>
              </a:rPr>
              <a:t>Felipe Ferreira Alexandre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aixaDeTexto 2"/>
          <p:cNvSpPr/>
          <p:nvPr/>
        </p:nvSpPr>
        <p:spPr>
          <a:xfrm>
            <a:off x="385200" y="428400"/>
            <a:ext cx="11421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Introdução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aixaDeTexto 8"/>
          <p:cNvSpPr/>
          <p:nvPr/>
        </p:nvSpPr>
        <p:spPr>
          <a:xfrm>
            <a:off x="385560" y="1256760"/>
            <a:ext cx="114213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96000" y="1295640"/>
            <a:ext cx="11339640" cy="47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A polícia possui autoridade legal para empregar força, inclusive letal em situações extremas, exigindo mecanismos robustos de controle, supervisão e responsabilização para garantir legitimidade e proteção de direitos.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A adoção de câmeras corporais expandiu-se internacionalmente como instrumento de transparência e accountability, tornando abordagens policiais auditáveis e tornando os registros mais precisos.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Porém, as evidências empíricas sobre câmeras corporais são heterogêneas, indicando que seus efeitos dependem principalmente das regras de uso, supervisão, armazenamento das imagens e responsabilização institucional.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No contexto brasileiro, marcado por elevada letalidade policial e desigualdades estruturais, as câmeras corporais podem produzir impactos mais amplos sobre mortes decorrentes de intervenções policiais e confiança pública.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Avaliar o efeito das câmeras corporais no Brasil é desafiador, pois sua implementação frequentemente coincide com reformas institucionais mais amplas, mudanças operacionais e maior escrutínio social sobre a atuação policial.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1"/>
          <p:cNvSpPr/>
          <p:nvPr/>
        </p:nvSpPr>
        <p:spPr>
          <a:xfrm>
            <a:off x="385200" y="428400"/>
            <a:ext cx="11251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Dados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96000" y="1295640"/>
            <a:ext cx="1133964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Este trabalho utiliza informações administrativas sobre mortes decorrentes de intervenção policial no Estado de São Paulo, combinadas a uma base de tratamento que identifica a entrada de unidades da Polícia Militar do Estado de São Paulo no Programa Olho Vivo. O objetivo é construir um painel de unidades policiais ao longo do tempo, permitindo comparar a trajetórida letalidade policial entre batalhões que passaram a utilizar câmeras corporais e batalhões ainda não tratados ou não tratados no período de análise.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A principal base de resultado é composta por registros de mortes decorrentes de intervenção policial, doravante MDIP. Esses registros incluem informações sobre o ano e o mês estatístico da ocorrência, data do fato, corporação envolvida, situação do agente, município, circunscrição policial, companhia, batalhão, comando, além de características da vítima, como idade, sexo e raça/cor.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Para a análise principal, opta-se pelo nível de batalhão, construindo uma base em painel </a:t>
            </a: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batalhão × mês</a:t>
            </a: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, por duas razões: </a:t>
            </a:r>
            <a:br>
              <a:rPr sz="1800"/>
            </a:b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     1. A implantação das câmeras corporais no Programa Olho Vivo foi organizada e divulgada principalmente por batalhões e unidades policiais, com entrada em fases sucessivas. </a:t>
            </a:r>
            <a:br>
              <a:rPr sz="1800"/>
            </a:b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</a:rPr>
              <a:t>     2. A base de MDIP fornecida contém identificação do batalhão associado ao evento, permitindo observar a evolução mensal da letalidade em cada unidade.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aixaDeTexto 6"/>
          <p:cNvSpPr/>
          <p:nvPr/>
        </p:nvSpPr>
        <p:spPr>
          <a:xfrm>
            <a:off x="385560" y="428760"/>
            <a:ext cx="11251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Metodologia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96000" y="1224000"/>
            <a:ext cx="11339640" cy="43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 Semilight"/>
                <a:ea typeface="Microsoft YaHei"/>
              </a:rPr>
              <a:t>Foi utilizado o método de diferença-em-diferenças com múltiplos períodos e adoção escalonada (Callaway e Sant’Anna), pois as câmeras corporais não foram implementadas simultaneamente em todos os batalhões (alguns em agosto de 2020, outros em junho de 2021 e outros em ondas posteriores). A hipótese central do modelo é a de tendências paralelas condicionais.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rcRect l="8495" t="6644" r="0" b="54983"/>
          <a:stretch/>
        </p:blipFill>
        <p:spPr>
          <a:xfrm>
            <a:off x="2520000" y="2468880"/>
            <a:ext cx="7113600" cy="401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aixaDeTexto 3"/>
          <p:cNvSpPr/>
          <p:nvPr/>
        </p:nvSpPr>
        <p:spPr>
          <a:xfrm>
            <a:off x="385200" y="428400"/>
            <a:ext cx="11421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Resultados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/>
          <p:cNvPicPr/>
          <p:nvPr/>
        </p:nvPicPr>
        <p:blipFill>
          <a:blip r:embed="rId1"/>
          <a:srcRect l="8495" t="28469" r="-196" b="32156"/>
          <a:stretch/>
        </p:blipFill>
        <p:spPr>
          <a:xfrm>
            <a:off x="2916000" y="3060000"/>
            <a:ext cx="5923440" cy="34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aixaDeTexto 7"/>
          <p:cNvSpPr/>
          <p:nvPr/>
        </p:nvSpPr>
        <p:spPr>
          <a:xfrm>
            <a:off x="385200" y="428760"/>
            <a:ext cx="11421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Conclusão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2089</TotalTime>
  <Application>LibreOffice/25.8.7.3$Windows_X86_64 LibreOffice_project/30742500f2d3eb4366ac312fa33d3dcabdb3eba5</Application>
  <AppVersion>15.0000</AppVersion>
  <Words>1694</Words>
  <Paragraphs>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2025-10-08T12:24:17Z</dcterms:created>
  <dc:creator>Andrei Bonifácio</dc:creator>
  <dc:description/>
  <dc:language>pt-BR</dc:language>
  <cp:lastModifiedBy/>
  <dcterms:modified xsi:type="dcterms:W3CDTF">2026-06-22T21:21:48Z</dcterms:modified>
  <cp:revision>54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